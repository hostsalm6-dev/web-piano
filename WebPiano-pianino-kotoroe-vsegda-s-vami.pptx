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 Tight" panose="020B0604020202020204" charset="0"/>
      <p:regular r:id="rId13"/>
    </p:embeddedFont>
    <p:embeddedFont>
      <p:font typeface="Noto Sans Light" panose="020B0604020202020204" charset="0"/>
      <p:regular r:id="rId14"/>
    </p:embeddedFont>
    <p:embeddedFont>
      <p:font typeface="Noto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318"/>
    <a:srgbClr val="15171D"/>
    <a:srgbClr val="1D2029"/>
    <a:srgbClr val="1F1E28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591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6">
              <a:alpha val="82000"/>
            </a:srgbClr>
          </a:solidFill>
          <a:ln/>
        </p:spPr>
      </p:sp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0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102783"/>
            <a:ext cx="116583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WEB AUDIO · INTERACTIVE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3387" y="2633095"/>
            <a:ext cx="11124922" cy="1409700"/>
          </a:xfrm>
          <a:prstGeom prst="rect">
            <a:avLst/>
          </a:prstGeom>
          <a:noFill/>
          <a:ln/>
        </p:spPr>
        <p:txBody>
          <a:bodyPr wrap="none" lIns="0" tIns="234944" rIns="0" bIns="234944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Web‑Piano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533387" y="3740687"/>
            <a:ext cx="11124922" cy="647700"/>
          </a:xfrm>
          <a:prstGeom prst="rect">
            <a:avLst/>
          </a:prstGeom>
          <a:noFill/>
          <a:ln/>
        </p:spPr>
        <p:txBody>
          <a:bodyPr wrap="none" lIns="0" tIns="95248" rIns="0" bIns="9524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пианино, которое всегда с вами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3387" y="4530348"/>
            <a:ext cx="1165830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8D8D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Играйте, записывайте идеи и возвращайтесь к ним прямо в браузере.</a:t>
            </a:r>
            <a:endParaRPr lang="en-US" sz="14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FBEF1D-826D-A96E-2EEE-72E5925BC09B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9184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ЗАЧЕМ ЭТО НУЖНО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51072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Музыка не должна зависеть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от доступа к инструменту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212405"/>
            <a:ext cx="3555911" cy="2080220"/>
          </a:xfrm>
          <a:prstGeom prst="roundRect">
            <a:avLst>
              <a:gd name="adj" fmla="val 7692"/>
            </a:avLst>
          </a:prstGeom>
          <a:solidFill>
            <a:srgbClr val="1B1D2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3441005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3812481"/>
            <a:ext cx="3098722" cy="736600"/>
          </a:xfrm>
          <a:prstGeom prst="rect">
            <a:avLst/>
          </a:prstGeom>
          <a:noFill/>
          <a:ln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Инструмент не всегда рядом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459543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Настоящее фортепиано есть далеко не у каждого.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7892" y="3212405"/>
            <a:ext cx="3555911" cy="2080220"/>
          </a:xfrm>
          <a:prstGeom prst="roundRect">
            <a:avLst>
              <a:gd name="adj" fmla="val 7692"/>
            </a:avLst>
          </a:prstGeom>
          <a:solidFill>
            <a:srgbClr val="25202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3441005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6486" y="3812481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Идея приходит сейчас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46486" y="429063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Для короткой практики нужен инструмент «здесь и сейчас».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26199" y="3212405"/>
            <a:ext cx="3555911" cy="2080220"/>
          </a:xfrm>
          <a:prstGeom prst="roundRect">
            <a:avLst>
              <a:gd name="adj" fmla="val 7692"/>
            </a:avLst>
          </a:prstGeom>
          <a:solidFill>
            <a:srgbClr val="18302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793" y="3441005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4793" y="3812481"/>
            <a:ext cx="3098722" cy="736600"/>
          </a:xfrm>
          <a:prstGeom prst="rect">
            <a:avLst/>
          </a:prstGeom>
          <a:noFill/>
          <a:ln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Браузер становится лабораторией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54793" y="4595435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Web‑Piano открывает музыку там, где уже есть экран.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942761" y="6469261"/>
            <a:ext cx="2489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0F84424-FA33-9383-4B9A-AD3E63DD15D7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183020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1347331"/>
            <a:ext cx="469888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1846983"/>
            <a:ext cx="4317892" cy="2743200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Один экран — полноценный интерактивный инструмент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0990" y="4616271"/>
            <a:ext cx="431789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8D8D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Всё главное перед глазами: клавиши, диапазон и управление звуком.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0990" y="5208687"/>
            <a:ext cx="877667" cy="305693"/>
          </a:xfrm>
          <a:prstGeom prst="roundRect">
            <a:avLst>
              <a:gd name="adj" fmla="val 41876"/>
            </a:avLst>
          </a:prstGeom>
          <a:solidFill>
            <a:srgbClr val="252528"/>
          </a:solidFill>
          <a:ln/>
        </p:spPr>
      </p:sp>
      <p:sp>
        <p:nvSpPr>
          <p:cNvPr id="7" name="Text 5"/>
          <p:cNvSpPr/>
          <p:nvPr/>
        </p:nvSpPr>
        <p:spPr>
          <a:xfrm>
            <a:off x="487648" y="5269333"/>
            <a:ext cx="1273937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4 ОКТАВЫ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47555" y="5208687"/>
            <a:ext cx="1068262" cy="305693"/>
          </a:xfrm>
          <a:prstGeom prst="roundRect">
            <a:avLst>
              <a:gd name="adj" fmla="val 41876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4213" y="5269333"/>
            <a:ext cx="1464531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АДАПТИВНО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7895" y="6469261"/>
            <a:ext cx="68072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3</a:t>
            </a:r>
            <a:endParaRPr lang="en-US" sz="1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47EA7C-7EA7-2015-8617-202463BF5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2" y="0"/>
            <a:ext cx="7127489" cy="400265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78BDB46-5FE1-B12A-29A5-F566839064E1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54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118" y="1563330"/>
            <a:ext cx="652257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ВВОД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118" y="1745218"/>
            <a:ext cx="5912992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Играйте руками —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или пальцами по клавишам</a:t>
            </a:r>
            <a:endParaRPr lang="en-US" sz="3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118" y="3155712"/>
            <a:ext cx="355591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2505" y="3110984"/>
            <a:ext cx="537960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Белые клавиши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202505" y="3539847"/>
            <a:ext cx="537960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 S D F G H J K L ; ' Z X C V B N M , . /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118" y="3920689"/>
            <a:ext cx="355591" cy="355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02505" y="3875961"/>
            <a:ext cx="537960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Чёрные клавиши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202505" y="4304824"/>
            <a:ext cx="537960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Q W E R T Y U I O P [ ]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118" y="4685665"/>
            <a:ext cx="355591" cy="355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02505" y="4640937"/>
            <a:ext cx="537960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Подсветка держит ритм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202505" y="5069800"/>
            <a:ext cx="537960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Нажатие видно сразу, независимо от способа игры.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1942761" y="6469261"/>
            <a:ext cx="2489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A334396-346C-1AB4-481A-623B7FE79184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8507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ЗВУЧАНИЕ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66960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Сустейн превращает нажатие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в музыкальную фразу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569593"/>
            <a:ext cx="3555911" cy="1607145"/>
          </a:xfrm>
          <a:prstGeom prst="roundRect">
            <a:avLst>
              <a:gd name="adj" fmla="val 9957"/>
            </a:avLst>
          </a:prstGeom>
          <a:solidFill>
            <a:srgbClr val="1B1D2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4001393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Дольше нажатия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4479548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Звук можно удерживать дольше физического нажатия.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7892" y="3569593"/>
            <a:ext cx="3555911" cy="1607145"/>
          </a:xfrm>
          <a:prstGeom prst="roundRect">
            <a:avLst>
              <a:gd name="adj" fmla="val 9957"/>
            </a:avLst>
          </a:prstGeom>
          <a:solidFill>
            <a:srgbClr val="25202D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4001393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Плавный хвост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6486" y="4479548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Ноты затухают мягко, без резких обрывов.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6199" y="3569593"/>
            <a:ext cx="3555911" cy="1607145"/>
          </a:xfrm>
          <a:prstGeom prst="roundRect">
            <a:avLst>
              <a:gd name="adj" fmla="val 9957"/>
            </a:avLst>
          </a:prstGeom>
          <a:solidFill>
            <a:srgbClr val="183020"/>
          </a:solidFill>
          <a:ln/>
        </p:spPr>
      </p:sp>
      <p:sp>
        <p:nvSpPr>
          <p:cNvPr id="11" name="Text 9"/>
          <p:cNvSpPr/>
          <p:nvPr/>
        </p:nvSpPr>
        <p:spPr>
          <a:xfrm>
            <a:off x="8254793" y="4001393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Полифония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4793" y="4479548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Аккорды и мелодия звучат одновременно.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42761" y="6469261"/>
            <a:ext cx="2489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20847" y="3302893"/>
            <a:ext cx="533387" cy="5334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543" y="3442593"/>
            <a:ext cx="253994" cy="254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29154" y="3302893"/>
            <a:ext cx="533387" cy="5334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51" y="3442593"/>
            <a:ext cx="253994" cy="2540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37461" y="3302893"/>
            <a:ext cx="533387" cy="53340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158" y="3442593"/>
            <a:ext cx="253994" cy="254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8F0F1CB-0205-B175-E954-9C7377658B16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638016"/>
            <a:ext cx="650223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РАБОТА С ИДЕЕЙ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6390" y="819904"/>
            <a:ext cx="6095848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Запишите идею,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прослушайте, повторите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06390" y="2255838"/>
            <a:ext cx="6095848" cy="1221085"/>
          </a:xfrm>
          <a:prstGeom prst="rect">
            <a:avLst/>
          </a:prstGeom>
          <a:solidFill>
            <a:srgbClr val="25262D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357438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2606377"/>
            <a:ext cx="6095848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2668588"/>
            <a:ext cx="589265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Нажмите запись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87" y="3146743"/>
            <a:ext cx="599425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Фиксируется последовательность нажатий и длительность фразы.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3629223"/>
            <a:ext cx="6095848" cy="1221085"/>
          </a:xfrm>
          <a:prstGeom prst="rect">
            <a:avLst/>
          </a:prstGeom>
          <a:solidFill>
            <a:srgbClr val="25262D"/>
          </a:solidFill>
          <a:ln/>
        </p:spPr>
      </p:sp>
      <p:sp>
        <p:nvSpPr>
          <p:cNvPr id="10" name="Text 8"/>
          <p:cNvSpPr/>
          <p:nvPr/>
        </p:nvSpPr>
        <p:spPr>
          <a:xfrm>
            <a:off x="507987" y="3730823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3979763"/>
            <a:ext cx="6095848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507987" y="4041974"/>
            <a:ext cx="589265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Запустите одной кнопкой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987" y="4520128"/>
            <a:ext cx="599425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Прослушайте результат и повторите удачный фрагмент.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390" y="5002609"/>
            <a:ext cx="6095848" cy="1221085"/>
          </a:xfrm>
          <a:prstGeom prst="rect">
            <a:avLst/>
          </a:prstGeom>
          <a:solidFill>
            <a:srgbClr val="25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507987" y="5104209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5353149"/>
            <a:ext cx="6095848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7" name="Text 15"/>
          <p:cNvSpPr/>
          <p:nvPr/>
        </p:nvSpPr>
        <p:spPr>
          <a:xfrm>
            <a:off x="507987" y="5415359"/>
            <a:ext cx="589265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Вернитесь позже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987" y="5893514"/>
            <a:ext cx="599425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Сохранённые записи остаются в памяти браузера.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77895" y="6469261"/>
            <a:ext cx="68072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4B24CF7-E503-32A5-E9D8-4A38E1AD397C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27AD3-C69A-9A5A-D8DB-D5E10D825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241439"/>
            <a:ext cx="5677771" cy="1991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50394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ТЕХНИЧЕСКАЯ ЦЕПОЧКА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32282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Как браузер превращается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в синтезатор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337" y="2817416"/>
            <a:ext cx="6478922" cy="279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3933" y="3106403"/>
            <a:ext cx="3562917" cy="264286"/>
          </a:xfrm>
          <a:prstGeom prst="rect">
            <a:avLst/>
          </a:prstGeom>
          <a:noFill/>
          <a:ln/>
        </p:spPr>
        <p:txBody>
          <a:bodyPr wrap="none" lIns="0" tIns="38874" rIns="0" bIns="38874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Создание контекста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93933" y="3754296"/>
            <a:ext cx="3562917" cy="264286"/>
          </a:xfrm>
          <a:prstGeom prst="rect">
            <a:avLst/>
          </a:prstGeom>
          <a:noFill/>
          <a:ln/>
        </p:spPr>
        <p:txBody>
          <a:bodyPr wrap="none" lIns="0" tIns="38874" rIns="0" bIns="38874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Генерация осциллятора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93933" y="4395710"/>
            <a:ext cx="3562917" cy="264287"/>
          </a:xfrm>
          <a:prstGeom prst="rect">
            <a:avLst/>
          </a:prstGeom>
          <a:noFill/>
          <a:ln/>
        </p:spPr>
        <p:txBody>
          <a:bodyPr wrap="none" lIns="0" tIns="38874" rIns="0" bIns="38874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Преобразование MIDI в частоту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3933" y="5037124"/>
            <a:ext cx="3562917" cy="264286"/>
          </a:xfrm>
          <a:prstGeom prst="rect">
            <a:avLst/>
          </a:prstGeom>
          <a:noFill/>
          <a:ln/>
        </p:spPr>
        <p:txBody>
          <a:bodyPr wrap="none" lIns="0" tIns="38874" rIns="0" bIns="38874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Огибающая (A/S/R)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942761" y="6469261"/>
            <a:ext cx="2489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03B6C94-448A-B649-0DBB-C32C3080DB2D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3288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ГОЛОСА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14770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Полифония без лишней сложности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27238"/>
            <a:ext cx="3809905" cy="2159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317" y="1784648"/>
            <a:ext cx="444489" cy="44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22317" y="2289473"/>
            <a:ext cx="665979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Независимые голоса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922317" y="2767628"/>
            <a:ext cx="665979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Каждое нажатие запускает независимый голос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317" y="3301008"/>
            <a:ext cx="444489" cy="44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22317" y="3805833"/>
            <a:ext cx="665979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Параллельные осцилляторы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922317" y="4283988"/>
            <a:ext cx="665979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Несколько осцилляторов звучат параллельно как аккорд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317" y="4817368"/>
            <a:ext cx="444489" cy="44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22317" y="5322193"/>
            <a:ext cx="665979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Освобождение ресурсов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4922317" y="5800348"/>
            <a:ext cx="665979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Освобождение клавиши мягко закрывает голос и освобождает ресурсы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1942761" y="6469261"/>
            <a:ext cx="24893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8ACFA61-7AA8-B3E5-FB44-0B40CC2F56DD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83020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503277"/>
            <a:ext cx="568945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UX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390" y="685165"/>
            <a:ext cx="5283068" cy="187434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Тёмный интерфейс,</a:t>
            </a:r>
            <a:endParaRPr lang="en-US" sz="3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который подсказывает действие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" y="2644279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6390" y="3123386"/>
            <a:ext cx="5283068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Меньше шума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6390" y="3552250"/>
            <a:ext cx="52830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8D8D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Тёмная тема подчёркивает клавиши.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0" y="3933130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390" y="4412238"/>
            <a:ext cx="5283068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Подсказка на месте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06390" y="4841101"/>
            <a:ext cx="52830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8D8D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Компьютерные клавиши встроены прямо в интерфейсе.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0" y="5221982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6390" y="5701090"/>
            <a:ext cx="5283068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Управление в любом размере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06390" y="6129953"/>
            <a:ext cx="52830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D8D8DE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Адаптивная компоновка сохраняет доступ к действию.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77895" y="6469261"/>
            <a:ext cx="68072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386A506-5D2B-0489-D08E-67B75000A6B4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942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B8FF72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СЦЕНАРИИ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7608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Для кого и в каких сценариях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738041"/>
            <a:ext cx="5410065" cy="1138535"/>
          </a:xfrm>
          <a:prstGeom prst="roundRect">
            <a:avLst>
              <a:gd name="adj" fmla="val 14055"/>
            </a:avLst>
          </a:prstGeom>
          <a:solidFill>
            <a:srgbClr val="1B1D25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922191"/>
            <a:ext cx="4914777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Начинающие музыканты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3400346"/>
            <a:ext cx="516242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Попробовать ноты и аккорды без покупки инструмента.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2738041"/>
            <a:ext cx="5410065" cy="1138535"/>
          </a:xfrm>
          <a:prstGeom prst="roundRect">
            <a:avLst>
              <a:gd name="adj" fmla="val 14055"/>
            </a:avLst>
          </a:prstGeom>
          <a:solidFill>
            <a:srgbClr val="25202D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689" y="2922191"/>
            <a:ext cx="4914777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Разработчики и саунд‑дизайнеры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9689" y="3400346"/>
            <a:ext cx="516242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Быстро проверить музыкальную идею.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028976"/>
            <a:ext cx="5410065" cy="1138535"/>
          </a:xfrm>
          <a:prstGeom prst="roundRect">
            <a:avLst>
              <a:gd name="adj" fmla="val 14055"/>
            </a:avLst>
          </a:prstGeom>
          <a:solidFill>
            <a:srgbClr val="183020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29" y="4213126"/>
            <a:ext cx="4914777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Преподаватели и ученики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7229" y="4691281"/>
            <a:ext cx="516242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Показать интервалы, гаммы и простые упражнения.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4028976"/>
            <a:ext cx="5410065" cy="1138535"/>
          </a:xfrm>
          <a:prstGeom prst="roundRect">
            <a:avLst>
              <a:gd name="adj" fmla="val 14055"/>
            </a:avLst>
          </a:prstGeom>
          <a:solidFill>
            <a:srgbClr val="2A2028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689" y="4213126"/>
            <a:ext cx="4914777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Любой пользователь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689" y="4691281"/>
            <a:ext cx="516242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C7C7D0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Сыграть, записать и поделиться коротким фрагментом.</a:t>
            </a:r>
            <a:endParaRPr lang="en-US" sz="14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457E15C-E8E3-4CE3-E3D6-96C572765CBA}"/>
              </a:ext>
            </a:extLst>
          </p:cNvPr>
          <p:cNvSpPr/>
          <p:nvPr/>
        </p:nvSpPr>
        <p:spPr>
          <a:xfrm>
            <a:off x="11007306" y="6469261"/>
            <a:ext cx="1184694" cy="388739"/>
          </a:xfrm>
          <a:prstGeom prst="roundRect">
            <a:avLst/>
          </a:prstGeom>
          <a:solidFill>
            <a:srgbClr val="1213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Широкоэкранный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Noto Sans Light</vt:lpstr>
      <vt:lpstr>Noto Sans SemiBold</vt:lpstr>
      <vt:lpstr>Inter Tight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Nalgiev Ruslan</cp:lastModifiedBy>
  <cp:revision>2</cp:revision>
  <dcterms:created xsi:type="dcterms:W3CDTF">2026-10-13T07:15:14Z</dcterms:created>
  <dcterms:modified xsi:type="dcterms:W3CDTF">2026-10-13T07:25:53Z</dcterms:modified>
</cp:coreProperties>
</file>